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f13b351e214bac" /><Relationship Type="http://schemas.openxmlformats.org/officeDocument/2006/relationships/extended-properties" Target="/docProps/app.xml" Id="R99327953165c4d12" /><Relationship Type="http://schemas.openxmlformats.org/officeDocument/2006/relationships/officeDocument" Target="/ppt/presentation.xml" Id="R20c6e0959fd343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c73fdfddb24d10"/>
  </p:sldMasterIdLst>
  <p:notesMasterIdLst>
    <p:notesMasterId xmlns:r="http://schemas.openxmlformats.org/officeDocument/2006/relationships" r:id="R027c904d87c149a4"/>
  </p:notesMasterIdLst>
  <p:sldIdLst>
    <p:sldId xmlns:r="http://schemas.openxmlformats.org/officeDocument/2006/relationships" id="256" r:id="Rea9950784b3f43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296c8860504fc1" /><Relationship Type="http://schemas.openxmlformats.org/officeDocument/2006/relationships/slideMaster" Target="/ppt/slideMasters/slideMaster1.xml" Id="R1bc73fdfddb24d10" /><Relationship Type="http://schemas.openxmlformats.org/officeDocument/2006/relationships/notesMaster" Target="/ppt/notesMasters/notesMaster1.xml" Id="R027c904d87c149a4" /><Relationship Type="http://schemas.openxmlformats.org/officeDocument/2006/relationships/presProps" Target="/ppt/presProps.xml" Id="R61cab174a0e2402a" /><Relationship Type="http://schemas.openxmlformats.org/officeDocument/2006/relationships/viewProps" Target="/ppt/viewProps.xml" Id="R61dd33fb7d354ed1" /><Relationship Type="http://schemas.openxmlformats.org/officeDocument/2006/relationships/tableStyles" Target="/ppt/tableStyles.xml" Id="Rd1d7a89527284c1e" /><Relationship Type="http://schemas.openxmlformats.org/officeDocument/2006/relationships/slide" Target="/ppt/slides/slide1.xml" Id="Rea9950784b3f43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cb61fcfe2e40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87063af56143b3" /><Relationship Type="http://schemas.openxmlformats.org/officeDocument/2006/relationships/notesMaster" Target="/ppt/notesMasters/notesMaster1.xml" Id="Rb6927330b7ea46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3a40f980d46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2da92247543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7b666d2954d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2444e2bf9445e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9a988abf9345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e40be8922447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abecda9e542f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7aa95e0964bc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6f247053941d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eb10197d5477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8a843fb95945f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980F10-06D7-C8D3-00B4-1E31C2B7C92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56D664-2A52-579E-66C2-AA5DB33D7F1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285B5CB-3A81-214C-36C3-5574F364A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DF8944-0EA9-81A7-B42F-F1F7D7D5B2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75C760-8C02-FBCD-5442-6DF4C8CCF1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163E28-EDBF-A1BC-53FB-9CC2CC700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9461DEC-0E84-A7C1-D87A-DD93217969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6244213-975E-32C8-11A3-C57E9CD7A4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B48216-397A-BD8C-AF48-57E775F66E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10F088-E365-8547-6774-70641AF7D2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6A9075-D7E6-1C81-4406-E20B945D6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F5F8C3-7190-4704-20E4-C3B5866327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459740-F90C-62BD-1137-7EC8E9B0A8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852C96-8B58-661C-8DE0-477A894828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806E350-7725-9F9F-3BA5-F96C370BF8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2BB95A-26B6-2941-5413-2F8514C8DF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94296A-8365-7899-E5F4-C693B9A9CA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AE56ABD-225F-8436-8536-59B3A9B6DB5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F43DFAA-8051-6855-45F9-A67E85DF3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3F04E34-C317-5FA5-D625-E8C6025891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4B0A0D-64A8-2DB5-C37E-D4495C97A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C414BA-559D-2D38-9C18-46F9B3350C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F73B6E-F217-7044-AC7D-6239A586AE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8242E26-739A-6DDF-F7FC-C69E01A9AE0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FED10A3-6C38-8AA1-04CD-480E66176A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803C8EC-61BE-C1A1-F6C9-EE785977B6D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2858D99-CF63-43B9-CA64-68A30B06B3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1ED0D2-5967-9947-C280-D454D27801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7AF0C7C-61F5-BC54-A4E4-E81DBECB00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6E811D-6C6E-7AA7-8932-633803B67E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40C22500-FAA6-B1FA-1D3F-8127FBABCC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DFC5A3C-A924-AAB2-185D-D24FB19A196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204D8C6-086C-AE01-216E-F339549CAA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6B27AC4-A039-0E82-99AB-08BCC2F0E8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50FC2B9-1AE2-6FCD-B227-45CDF35592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58953F8-A432-4997-B730-449DCF8553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35DF9A-F75C-027D-3CDC-F7F5A96D8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4BB535A-90DE-5693-77C2-D0FAF609D9B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8DAB38-4B8A-0655-F2FA-57449AF7BF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8020532-2443-2920-8980-BD5038162A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994DE8-320A-8033-9A98-9A1E903B2E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7F495A-27CB-8FDB-E00C-DF6A07994C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0226A2-1751-6FE5-6AAA-5489B1D53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3A55E65-6F36-3843-E851-8901EAE761F4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F685C41-158E-C8DA-5824-AED3EC79A92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C1921CC-2454-D566-EE41-B460C00A3D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4B41F73-BB75-CE43-96A9-1B452D7EE6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20889E2-6CCD-C1A6-2255-5594BAA06B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760720-10FB-03DC-CF91-CBC25A349B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215E506-D71C-276B-F7B2-41406B2A7A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AFC44A-B103-7394-F51A-6DD00D8347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D05C6F-7787-990C-8BB4-F02717E8A7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B47C10-2F76-A228-E64D-56BE5B3E032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A893868-DF91-4937-224C-0FECF9FAB2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8CAC73-7BDD-A37E-0794-2F8578D0E3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D2FB317-6FD5-1C2A-6FC3-90BD570995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E40B1E-351E-AF98-6435-9DB0D1D3D5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60CA378-362A-94E2-DC74-26FE3D1DA4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e0cc7594ab4bbd" /><Relationship Type="http://schemas.openxmlformats.org/officeDocument/2006/relationships/slideLayout" Target="/ppt/slideLayouts/slideLayout1.xml" Id="R711457f3c5b44fe4" /><Relationship Type="http://schemas.openxmlformats.org/officeDocument/2006/relationships/slideLayout" Target="/ppt/slideLayouts/slideLayout2.xml" Id="R9a72565063834489" /><Relationship Type="http://schemas.openxmlformats.org/officeDocument/2006/relationships/slideLayout" Target="/ppt/slideLayouts/slideLayout3.xml" Id="Racfbdba6c7034dd3" /><Relationship Type="http://schemas.openxmlformats.org/officeDocument/2006/relationships/slideLayout" Target="/ppt/slideLayouts/slideLayout4.xml" Id="Rf1b52de176044513" /><Relationship Type="http://schemas.openxmlformats.org/officeDocument/2006/relationships/slideLayout" Target="/ppt/slideLayouts/slideLayout5.xml" Id="Re974680834c84083" /><Relationship Type="http://schemas.openxmlformats.org/officeDocument/2006/relationships/slideLayout" Target="/ppt/slideLayouts/slideLayout6.xml" Id="R0aa828d9a54749c5" /><Relationship Type="http://schemas.openxmlformats.org/officeDocument/2006/relationships/slideLayout" Target="/ppt/slideLayouts/slideLayout7.xml" Id="R8eb6a7db73b4415c" /><Relationship Type="http://schemas.openxmlformats.org/officeDocument/2006/relationships/slideLayout" Target="/ppt/slideLayouts/slideLayout8.xml" Id="R3120b2228cf64ff6" /><Relationship Type="http://schemas.openxmlformats.org/officeDocument/2006/relationships/slideLayout" Target="/ppt/slideLayouts/slideLayout9.xml" Id="Rc7d5ffced86a49b2" /><Relationship Type="http://schemas.openxmlformats.org/officeDocument/2006/relationships/slideLayout" Target="/ppt/slideLayouts/slideLayout10.xml" Id="R7145ab4365bd4c7e" /><Relationship Type="http://schemas.openxmlformats.org/officeDocument/2006/relationships/slideLayout" Target="/ppt/slideLayouts/slideLayout11.xml" Id="Rc6624eabc81b457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87965A6-D1BA-CE16-310E-77211507E7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C95659-34A4-3AB8-320C-6A0364318C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29D0474-A0A1-C950-2A9B-40F83610D2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ED81CB0-83E7-49CC-BEFB-A3BE8CCCFA78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9F9878-055B-F88B-7286-9A246EDD7C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AEFB31B-D940-82F4-2217-5B9A62773C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45CFB42-8346-44EC-A343-6370ED231CA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1457f3c5b44fe4"/>
    <p:sldLayoutId xmlns:r="http://schemas.openxmlformats.org/officeDocument/2006/relationships" id="2147483650" r:id="R9a72565063834489"/>
    <p:sldLayoutId xmlns:r="http://schemas.openxmlformats.org/officeDocument/2006/relationships" id="2147483651" r:id="Racfbdba6c7034dd3"/>
    <p:sldLayoutId xmlns:r="http://schemas.openxmlformats.org/officeDocument/2006/relationships" id="2147483652" r:id="Rf1b52de176044513"/>
    <p:sldLayoutId xmlns:r="http://schemas.openxmlformats.org/officeDocument/2006/relationships" id="2147483653" r:id="Re974680834c84083"/>
    <p:sldLayoutId xmlns:r="http://schemas.openxmlformats.org/officeDocument/2006/relationships" id="2147483654" r:id="R0aa828d9a54749c5"/>
    <p:sldLayoutId xmlns:r="http://schemas.openxmlformats.org/officeDocument/2006/relationships" id="2147483655" r:id="R8eb6a7db73b4415c"/>
    <p:sldLayoutId xmlns:r="http://schemas.openxmlformats.org/officeDocument/2006/relationships" id="2147483656" r:id="R3120b2228cf64ff6"/>
    <p:sldLayoutId xmlns:r="http://schemas.openxmlformats.org/officeDocument/2006/relationships" id="2147483657" r:id="Rc7d5ffced86a49b2"/>
    <p:sldLayoutId xmlns:r="http://schemas.openxmlformats.org/officeDocument/2006/relationships" id="2147483658" r:id="R7145ab4365bd4c7e"/>
    <p:sldLayoutId xmlns:r="http://schemas.openxmlformats.org/officeDocument/2006/relationships" id="2147483659" r:id="Rc6624eabc81b457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c596a8c524fc5" /><Relationship Type="http://schemas.openxmlformats.org/officeDocument/2006/relationships/notesSlide" Target="/ppt/notesSlides/notesSlide1.xml" Id="R55cdc094ed4e43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: Rounded Corners 3">
            <a:extLst xmlns:a="http://schemas.openxmlformats.org/drawingml/2006/main">
              <a:ext uri="{FF2B5EF4-FFF2-40B4-BE49-F238E27FC236}">
                <a16:creationId xmlns:a16="http://schemas.microsoft.com/office/drawing/2014/main" id="{FCF2E9B1-0F72-61FA-339D-E8C4F0FA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65" y="193317"/>
            <a:ext cx="252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00000"/>
                </a:solidFill>
              </a:rPr>
              <a:t>Maximum Temperature Data 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79F154C8-A39A-AD34-0D5E-14DE1EB8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65" y="1983847"/>
            <a:ext cx="2520000" cy="1080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rgbClr val="FF7401"/>
            </a:solidFill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7F340D"/>
                </a:solidFill>
              </a:rPr>
              <a:t>Identifying Extreme Heatwaves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FEA00A4-A84E-DDCF-1C9B-E5468DF8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65" y="3774378"/>
            <a:ext cx="2520000" cy="1080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5">
              <a:shade val="15000"/>
            </a:schemeClr>
          </a:lnRef>
          <a:fillRef xmlns:a="http://schemas.openxmlformats.org/drawingml/2006/main" idx="1">
            <a:schemeClr val="accent5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7030A0"/>
                </a:solidFill>
              </a:rPr>
              <a:t>Characterizing Space-Time Typologies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FB9ED3B-B20A-B282-E4C1-B22607C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1265" y="5574377"/>
            <a:ext cx="2520000" cy="1080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4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074E6A"/>
                </a:solidFill>
              </a:rPr>
              <a:t>Process-based Compound Heatwaves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CA02E75-F89E-5A0C-5A62-3E0327D4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788" y="193316"/>
            <a:ext cx="54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dk1">
              <a:shade val="15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000000"/>
                </a:solidFill>
              </a:rPr>
              <a:t>Obtain daily maximum temperature (</a:t>
            </a:r>
            <a:r>
              <a:rPr sz="1900">
                <a:solidFill>
                  <a:srgbClr val="000000"/>
                </a:solidFill>
              </a:rPr>
              <a:t>Tmax</a:t>
            </a:r>
            <a:r>
              <a:rPr sz="1900">
                <a:solidFill>
                  <a:srgbClr val="000000"/>
                </a:solidFill>
              </a:rPr>
              <a:t>) for the warm season (Apr–Sep: 1940–2025) over the Eastern Mediterranean &amp; Middle East (EMME)</a:t>
            </a:r>
            <a:endParaRPr sz="190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9CD69B6-38E7-99CD-D925-26730CBA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788" y="2002375"/>
            <a:ext cx="54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2">
              <a:shade val="15000"/>
            </a:schemeClr>
          </a:lnRef>
          <a:fillRef xmlns:a="http://schemas.openxmlformats.org/drawingml/2006/main" idx="1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Identify P95th Tmax exceedances, followed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by major event selection for a coverage greater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than or equal to a regional P97.5th threshold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B4C316F-9F42-2F81-E93A-1A4FE05C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788" y="3811435"/>
            <a:ext cx="54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2">
            <a:schemeClr val="accent5">
              <a:shade val="15000"/>
            </a:schemeClr>
          </a:lnRef>
          <a:fillRef xmlns:a="http://schemas.openxmlformats.org/drawingml/2006/main" idx="1">
            <a:schemeClr val="accent5"/>
          </a:fillRef>
          <a:effectRef xmlns:a="http://schemas.openxmlformats.org/drawingml/2006/main" idx="0">
            <a:schemeClr val="accent5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91440" tIns="45720" rIns="91440" b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>
                <a:solidFill>
                  <a:srgbClr val="000000"/>
                </a:solidFill>
              </a:rPr>
              <a:t>Select heatwave events based on their spatial connectivity and clustering into compound heatwaves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222C89E-FD16-B83D-95E9-E5116CA4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2788" y="5611435"/>
            <a:ext cx="54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Analyze compound heatwave properties: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centroid, areal extent, azimuth orientation, axis</a:t>
            </a:r>
          </a:p>
          <a:p xmlns:a="http://schemas.openxmlformats.org/drawingml/2006/main">
            <a:pPr algn="ctr">
              <a:buNone/>
              <a:defRPr sz="2000" b="0">
                <a:solidFill>
                  <a:srgbClr val="000000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000000"/>
                </a:solidFill>
                <a:latin typeface="Aptos"/>
                <a:ea typeface="Aptos"/>
                <a:cs typeface="Aptos"/>
              </a:rPr>
              <a:t>ratio (L2/L1), duration, frequency</a:t>
            </a:r>
          </a:p>
        </p:txBody>
      </p:sp>
      <p:cxnSp>
        <p:nvCxnSpPr>
          <p:cNvPr id="46" name="Straight Arrow Connector 18"/>
          <p:cNvCxnSpPr/>
          <p:nvPr/>
        </p:nvCxnSpPr>
        <p:spPr>
          <a:xfrm xmlns:a="http://schemas.openxmlformats.org/drawingml/2006/main">
            <a:off x="3141265" y="1273317"/>
            <a:ext cx="0" cy="71053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tailEnd type="triangle"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7" name="Straight Arrow Connector 20"/>
          <p:cNvCxnSpPr/>
          <p:nvPr/>
        </p:nvCxnSpPr>
        <p:spPr>
          <a:xfrm xmlns:a="http://schemas.openxmlformats.org/drawingml/2006/main">
            <a:off x="3141265" y="3063846"/>
            <a:ext cx="0" cy="710531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tailEnd type="triangle"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8" name="Straight Arrow Connector 22"/>
          <p:cNvCxnSpPr/>
          <p:nvPr/>
        </p:nvCxnSpPr>
        <p:spPr>
          <a:xfrm xmlns:a="http://schemas.openxmlformats.org/drawingml/2006/main">
            <a:off x="3141265" y="4854378"/>
            <a:ext cx="0" cy="719999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tailEnd type="triangle"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49" name="Straight Arrow Connector 1"/>
          <p:cNvCxnSpPr/>
          <p:nvPr/>
        </p:nvCxnSpPr>
        <p:spPr>
          <a:xfrm xmlns:a="http://schemas.openxmlformats.org/drawingml/2006/main">
            <a:off x="7842788" y="1273317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0" name="Straight Arrow Connector 2"/>
          <p:cNvCxnSpPr/>
          <p:nvPr/>
        </p:nvCxnSpPr>
        <p:spPr>
          <a:xfrm xmlns:a="http://schemas.openxmlformats.org/drawingml/2006/main">
            <a:off x="7842788" y="3091435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51" name="Straight Arrow Connector 5"/>
          <p:cNvCxnSpPr/>
          <p:nvPr/>
        </p:nvCxnSpPr>
        <p:spPr>
          <a:xfrm xmlns:a="http://schemas.openxmlformats.org/drawingml/2006/main">
            <a:off x="7842788" y="4891435"/>
            <a:ext cx="0" cy="720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tailEnd type="triangle"/>
          </a:ln>
        </p:spPr>
        <p:style>
          <a:lnRef xmlns:a="http://schemas.openxmlformats.org/drawingml/2006/main" idx="2">
            <a:schemeClr val="dk1"/>
          </a:lnRef>
          <a:fillRef xmlns:a="http://schemas.openxmlformats.org/drawingml/2006/main" idx="0">
            <a:schemeClr val="dk1"/>
          </a:fillRef>
          <a:effectRef xmlns:a="http://schemas.openxmlformats.org/drawingml/2006/main" idx="1">
            <a:schemeClr val="dk1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25306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Fawaz Bouhamad</dc:creator>
  <lastModifiedBy>Fawaz Bouhamad</lastModifiedBy>
  <dc:title>Presentation</dc:title>
  <dcterms:created xsi:type="dcterms:W3CDTF">2026-10-06T01:13:47.6210000Z</dcterms:created>
  <dcterms:modified xsi:type="dcterms:W3CDTF">2026-10-06T01:13:47.6220000Z</dcterms:modified>
</coreProperties>
</file>